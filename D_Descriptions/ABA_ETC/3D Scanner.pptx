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97" d="100"/>
          <a:sy n="97" d="100"/>
        </p:scale>
        <p:origin x="1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1F57A-D32B-45DD-BC64-36C401256689}" type="datetimeFigureOut">
              <a:rPr lang="de-AT" smtClean="0"/>
              <a:t>26.06.2025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A30B9-153B-407A-B41E-F6E28F3CFA3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7567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Mobile Arbeitsstation</a:t>
            </a:r>
          </a:p>
          <a:p>
            <a:pPr marL="171450" indent="-171450">
              <a:buFontTx/>
              <a:buChar char="-"/>
            </a:pPr>
            <a:r>
              <a:rPr lang="de-AT" dirty="0"/>
              <a:t>Mehrere verbaute Kameras</a:t>
            </a:r>
          </a:p>
          <a:p>
            <a:pPr marL="628650" lvl="1" indent="-171450">
              <a:buFontTx/>
              <a:buChar char="-"/>
            </a:pPr>
            <a:r>
              <a:rPr lang="de-AT" dirty="0"/>
              <a:t>Müssen die Maße ermitteln</a:t>
            </a:r>
          </a:p>
          <a:p>
            <a:pPr marL="628650" lvl="1" indent="-171450">
              <a:buFontTx/>
              <a:buChar char="-"/>
            </a:pPr>
            <a:r>
              <a:rPr lang="de-AT" dirty="0"/>
              <a:t>Bestellnummern, Artikelnummer, … müssen erkannt werden</a:t>
            </a:r>
          </a:p>
          <a:p>
            <a:pPr marL="628650" lvl="1" indent="-171450">
              <a:buFontTx/>
              <a:buChar char="-"/>
            </a:pPr>
            <a:r>
              <a:rPr lang="de-AT" dirty="0"/>
              <a:t>Fotos von allen Seiten</a:t>
            </a:r>
          </a:p>
          <a:p>
            <a:pPr marL="171450" indent="-171450">
              <a:buFontTx/>
              <a:buChar char="-"/>
            </a:pPr>
            <a:endParaRPr lang="de-AT" dirty="0"/>
          </a:p>
          <a:p>
            <a:pPr marL="171450" indent="-171450">
              <a:buFontTx/>
              <a:buChar char="-"/>
            </a:pPr>
            <a:r>
              <a:rPr lang="de-AT" dirty="0"/>
              <a:t>Eine elektrische Waage für Gewicht</a:t>
            </a:r>
          </a:p>
          <a:p>
            <a:pPr marL="171450" indent="-171450">
              <a:buFontTx/>
              <a:buChar char="-"/>
            </a:pPr>
            <a:r>
              <a:rPr lang="de-AT" dirty="0"/>
              <a:t>Daten müssen auf eine DB gebracht werden</a:t>
            </a:r>
          </a:p>
          <a:p>
            <a:pPr marL="171450" indent="-171450">
              <a:buFontTx/>
              <a:buChar char="-"/>
            </a:pPr>
            <a:r>
              <a:rPr lang="de-AT" dirty="0"/>
              <a:t>Alles darf nicht länger als 30s dauern</a:t>
            </a:r>
          </a:p>
          <a:p>
            <a:pPr marL="171450" indent="-171450">
              <a:buFontTx/>
              <a:buChar char="-"/>
            </a:pPr>
            <a:endParaRPr lang="de-AT" dirty="0"/>
          </a:p>
          <a:p>
            <a:pPr marL="628650" lvl="1" indent="-171450">
              <a:buFontTx/>
              <a:buChar char="-"/>
            </a:pP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A30B9-153B-407A-B41E-F6E28F3CFA32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28609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Peripherie</a:t>
            </a:r>
          </a:p>
          <a:p>
            <a:pPr marL="171450" indent="-171450">
              <a:buFontTx/>
              <a:buChar char="-"/>
            </a:pPr>
            <a:r>
              <a:rPr lang="de-DE" dirty="0"/>
              <a:t>Daten von der Peripherie werden von </a:t>
            </a:r>
            <a:r>
              <a:rPr lang="de-DE" dirty="0" err="1"/>
              <a:t>Raspi</a:t>
            </a:r>
            <a:r>
              <a:rPr lang="de-DE" dirty="0"/>
              <a:t> verarbeitet</a:t>
            </a:r>
          </a:p>
          <a:p>
            <a:pPr marL="171450" indent="-171450">
              <a:buFontTx/>
              <a:buChar char="-"/>
            </a:pPr>
            <a:r>
              <a:rPr lang="de-DE" dirty="0"/>
              <a:t>Laptop für Mitarbeiter</a:t>
            </a:r>
          </a:p>
          <a:p>
            <a:pPr marL="171450" indent="-171450">
              <a:buFontTx/>
              <a:buChar char="-"/>
            </a:pPr>
            <a:r>
              <a:rPr lang="de-AT" dirty="0"/>
              <a:t>GUI, DB </a:t>
            </a:r>
            <a:r>
              <a:rPr lang="de-AT" dirty="0" err="1"/>
              <a:t>verwaltung</a:t>
            </a:r>
            <a:endParaRPr lang="de-AT" dirty="0"/>
          </a:p>
          <a:p>
            <a:pPr marL="171450" indent="-171450">
              <a:buFontTx/>
              <a:buChar char="-"/>
            </a:pPr>
            <a:r>
              <a:rPr lang="de-AT" dirty="0"/>
              <a:t>Mobile Arbeitsstation -&gt; Versorgung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A30B9-153B-407A-B41E-F6E28F3CFA32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70802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01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6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2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1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0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0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13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70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88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45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4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21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BE8E1BA-1863-0F95-E1A3-14697014C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Verpackungskartons">
            <a:extLst>
              <a:ext uri="{FF2B5EF4-FFF2-40B4-BE49-F238E27FC236}">
                <a16:creationId xmlns:a16="http://schemas.microsoft.com/office/drawing/2014/main" id="{529F1523-85D1-051C-C1AC-D95596491D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198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92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6406B8-FC62-E9E2-3F48-4BDE2BE31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9782" y="2061031"/>
            <a:ext cx="8212498" cy="1810050"/>
          </a:xfrm>
        </p:spPr>
        <p:txBody>
          <a:bodyPr>
            <a:normAutofit fontScale="90000"/>
          </a:bodyPr>
          <a:lstStyle/>
          <a:p>
            <a:r>
              <a:rPr lang="de-DE" sz="6000" dirty="0">
                <a:solidFill>
                  <a:srgbClr val="FFFFFF"/>
                </a:solidFill>
              </a:rPr>
              <a:t>3D Scanner zur Artikeldatenerfassung</a:t>
            </a:r>
            <a:endParaRPr lang="de-AT" sz="60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296910E-D678-7948-6344-BD3F02AD8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1747" y="3242396"/>
            <a:ext cx="4190533" cy="1257371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Von Felix </a:t>
            </a:r>
            <a:r>
              <a:rPr lang="de-DE" dirty="0" err="1">
                <a:solidFill>
                  <a:srgbClr val="FFFFFF"/>
                </a:solidFill>
              </a:rPr>
              <a:t>Granegger</a:t>
            </a:r>
            <a:r>
              <a:rPr lang="de-DE" dirty="0">
                <a:solidFill>
                  <a:srgbClr val="FFFFFF"/>
                </a:solidFill>
              </a:rPr>
              <a:t> und Alexander Schiechtl</a:t>
            </a:r>
            <a:endParaRPr lang="de-AT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994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4CDBD82-5D6D-0D93-404F-0388C0F1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065" y="3137154"/>
            <a:ext cx="6400800" cy="1307592"/>
          </a:xfrm>
        </p:spPr>
        <p:txBody>
          <a:bodyPr>
            <a:normAutofit/>
          </a:bodyPr>
          <a:lstStyle/>
          <a:p>
            <a:r>
              <a:rPr lang="de-DE" dirty="0"/>
              <a:t>Grundkonzept</a:t>
            </a:r>
            <a:endParaRPr lang="de-AT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nhaltsplatzhalter 4" descr="Überwachungskamera Silhouette">
            <a:extLst>
              <a:ext uri="{FF2B5EF4-FFF2-40B4-BE49-F238E27FC236}">
                <a16:creationId xmlns:a16="http://schemas.microsoft.com/office/drawing/2014/main" id="{719B04B0-DE46-56AA-930B-CB0264F20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238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720107-954E-9F37-71E8-FCA91276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vereinfachter Aufbau</a:t>
            </a:r>
          </a:p>
        </p:txBody>
      </p:sp>
      <p:pic>
        <p:nvPicPr>
          <p:cNvPr id="6" name="Grafik 5" descr="Überwachungskamera Silhouette">
            <a:extLst>
              <a:ext uri="{FF2B5EF4-FFF2-40B4-BE49-F238E27FC236}">
                <a16:creationId xmlns:a16="http://schemas.microsoft.com/office/drawing/2014/main" id="{AB40CA1D-285D-BFDE-24A8-C748A7058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2757" y="2221992"/>
            <a:ext cx="914400" cy="914400"/>
          </a:xfrm>
          <a:prstGeom prst="rect">
            <a:avLst/>
          </a:prstGeom>
        </p:spPr>
      </p:pic>
      <p:pic>
        <p:nvPicPr>
          <p:cNvPr id="8" name="Grafik 7" descr="Ein Bild, das Text, Screenshot, Visitenkarte, Schwarz enthält.&#10;&#10;KI-generierte Inhalte können fehlerhaft sein.">
            <a:extLst>
              <a:ext uri="{FF2B5EF4-FFF2-40B4-BE49-F238E27FC236}">
                <a16:creationId xmlns:a16="http://schemas.microsoft.com/office/drawing/2014/main" id="{C53FC9F9-508A-3948-A62A-74E0B8FA2E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843" y="3242767"/>
            <a:ext cx="871169" cy="871169"/>
          </a:xfrm>
          <a:prstGeom prst="rect">
            <a:avLst/>
          </a:prstGeom>
        </p:spPr>
      </p:pic>
      <p:pic>
        <p:nvPicPr>
          <p:cNvPr id="10" name="Grafik 9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4E0BD2E7-2A82-CA21-96F7-C84F632BC7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337" y="2532587"/>
            <a:ext cx="1565116" cy="1565116"/>
          </a:xfrm>
          <a:prstGeom prst="rect">
            <a:avLst/>
          </a:prstGeom>
        </p:spPr>
      </p:pic>
      <p:pic>
        <p:nvPicPr>
          <p:cNvPr id="12" name="Grafik 11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29EE6F04-4AB2-5756-C402-84B12BB25A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094" y="2654880"/>
            <a:ext cx="1291063" cy="1291063"/>
          </a:xfrm>
          <a:prstGeom prst="rect">
            <a:avLst/>
          </a:prstGeom>
        </p:spPr>
      </p:pic>
      <p:pic>
        <p:nvPicPr>
          <p:cNvPr id="14" name="Grafik 13" descr="Akku mit einfarbiger Füllung">
            <a:extLst>
              <a:ext uri="{FF2B5EF4-FFF2-40B4-BE49-F238E27FC236}">
                <a16:creationId xmlns:a16="http://schemas.microsoft.com/office/drawing/2014/main" id="{6E7FACA9-A889-BACA-9699-2D85879276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10210" y="5070358"/>
            <a:ext cx="1171575" cy="1171575"/>
          </a:xfrm>
          <a:prstGeom prst="rect">
            <a:avLst/>
          </a:prstGeom>
        </p:spPr>
      </p:pic>
      <p:sp>
        <p:nvSpPr>
          <p:cNvPr id="15" name="Flussdiagramm: Verzögerung 14">
            <a:extLst>
              <a:ext uri="{FF2B5EF4-FFF2-40B4-BE49-F238E27FC236}">
                <a16:creationId xmlns:a16="http://schemas.microsoft.com/office/drawing/2014/main" id="{1E2D685C-675B-399A-D55F-DA48DBB4EB88}"/>
              </a:ext>
            </a:extLst>
          </p:cNvPr>
          <p:cNvSpPr/>
          <p:nvPr/>
        </p:nvSpPr>
        <p:spPr>
          <a:xfrm>
            <a:off x="1600200" y="2085975"/>
            <a:ext cx="2578269" cy="2428875"/>
          </a:xfrm>
          <a:prstGeom prst="flowChartDelay">
            <a:avLst/>
          </a:prstGeom>
          <a:noFill/>
          <a:ln w="381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631495B-EA2E-7602-2F6A-038932259800}"/>
              </a:ext>
            </a:extLst>
          </p:cNvPr>
          <p:cNvSpPr txBox="1"/>
          <p:nvPr/>
        </p:nvSpPr>
        <p:spPr>
          <a:xfrm>
            <a:off x="1543541" y="4597011"/>
            <a:ext cx="1176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Peripherie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D256062-63FA-4088-1476-0FD927BF129F}"/>
              </a:ext>
            </a:extLst>
          </p:cNvPr>
          <p:cNvSpPr txBox="1"/>
          <p:nvPr/>
        </p:nvSpPr>
        <p:spPr>
          <a:xfrm>
            <a:off x="5099058" y="3678351"/>
            <a:ext cx="1993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Datenverarbeitung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46B0147A-2D84-A1AF-2C08-7FD8FFF23140}"/>
              </a:ext>
            </a:extLst>
          </p:cNvPr>
          <p:cNvCxnSpPr>
            <a:stCxn id="15" idx="3"/>
            <a:endCxn id="10" idx="1"/>
          </p:cNvCxnSpPr>
          <p:nvPr/>
        </p:nvCxnSpPr>
        <p:spPr>
          <a:xfrm>
            <a:off x="4178469" y="3300413"/>
            <a:ext cx="1096868" cy="147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98A5FB03-E0BF-A9AF-F1FE-8E1CEE4C5F5E}"/>
              </a:ext>
            </a:extLst>
          </p:cNvPr>
          <p:cNvSpPr txBox="1"/>
          <p:nvPr/>
        </p:nvSpPr>
        <p:spPr>
          <a:xfrm>
            <a:off x="10140694" y="2781101"/>
            <a:ext cx="7088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GUI,</a:t>
            </a:r>
          </a:p>
          <a:p>
            <a:r>
              <a:rPr lang="de-AT" dirty="0"/>
              <a:t>DB,</a:t>
            </a:r>
          </a:p>
          <a:p>
            <a:r>
              <a:rPr lang="de-AT" dirty="0"/>
              <a:t>…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8AF1FDF8-CE59-D13A-B616-7827C20D2335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 flipV="1">
            <a:off x="6840453" y="3300412"/>
            <a:ext cx="1928641" cy="1473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20AEEE46-863A-91DF-F4B1-BF2D9FFCC0A2}"/>
              </a:ext>
            </a:extLst>
          </p:cNvPr>
          <p:cNvCxnSpPr>
            <a:cxnSpLocks/>
            <a:endCxn id="15" idx="2"/>
          </p:cNvCxnSpPr>
          <p:nvPr/>
        </p:nvCxnSpPr>
        <p:spPr>
          <a:xfrm flipH="1" flipV="1">
            <a:off x="2889335" y="4514850"/>
            <a:ext cx="2620875" cy="1133475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4F4D84E-6755-8EA5-8F93-E2A1D5B204FE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6057895" y="4097703"/>
            <a:ext cx="0" cy="998617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33749845-6D35-0EA8-E408-27A062D06079}"/>
              </a:ext>
            </a:extLst>
          </p:cNvPr>
          <p:cNvCxnSpPr>
            <a:cxnSpLocks/>
            <a:stCxn id="14" idx="3"/>
            <a:endCxn id="12" idx="2"/>
          </p:cNvCxnSpPr>
          <p:nvPr/>
        </p:nvCxnSpPr>
        <p:spPr>
          <a:xfrm flipV="1">
            <a:off x="6681785" y="3945943"/>
            <a:ext cx="2732841" cy="1710203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fik 40" descr="Drahtlos Silhouette">
            <a:extLst>
              <a:ext uri="{FF2B5EF4-FFF2-40B4-BE49-F238E27FC236}">
                <a16:creationId xmlns:a16="http://schemas.microsoft.com/office/drawing/2014/main" id="{D27EDFF4-B18D-1239-02F0-97F8B21CFD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6413584" y="2118107"/>
            <a:ext cx="914400" cy="914400"/>
          </a:xfrm>
          <a:prstGeom prst="rect">
            <a:avLst/>
          </a:prstGeom>
        </p:spPr>
      </p:pic>
      <p:pic>
        <p:nvPicPr>
          <p:cNvPr id="48" name="Grafik 47" descr="Drahtlos Silhouette">
            <a:extLst>
              <a:ext uri="{FF2B5EF4-FFF2-40B4-BE49-F238E27FC236}">
                <a16:creationId xmlns:a16="http://schemas.microsoft.com/office/drawing/2014/main" id="{B15F569D-14F1-5DF4-3BFB-A06A42A04A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89740" y="208019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10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CF6DA7-67AD-4090-B258-117837D9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507" y="1358671"/>
            <a:ext cx="2843711" cy="1493327"/>
          </a:xfrm>
        </p:spPr>
        <p:txBody>
          <a:bodyPr anchor="ctr">
            <a:normAutofit/>
          </a:bodyPr>
          <a:lstStyle/>
          <a:p>
            <a:r>
              <a:rPr lang="de-AT" sz="3600" dirty="0"/>
              <a:t>Ähnliches Konzept</a:t>
            </a:r>
          </a:p>
        </p:txBody>
      </p:sp>
      <p:pic>
        <p:nvPicPr>
          <p:cNvPr id="4" name="Inhaltsplatzhalter 3" descr="Ein Bild, das Im Haus enthält.&#10;&#10;KI-generierte Inhalte können fehlerhaft sein.">
            <a:extLst>
              <a:ext uri="{FF2B5EF4-FFF2-40B4-BE49-F238E27FC236}">
                <a16:creationId xmlns:a16="http://schemas.microsoft.com/office/drawing/2014/main" id="{772E268D-9A04-0733-889E-DD5E953706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6" r="6259" b="-1"/>
          <a:stretch>
            <a:fillRect/>
          </a:stretch>
        </p:blipFill>
        <p:spPr bwMode="auto">
          <a:xfrm>
            <a:off x="1065162" y="621060"/>
            <a:ext cx="6433521" cy="5476556"/>
          </a:xfrm>
          <a:prstGeom prst="rect">
            <a:avLst/>
          </a:prstGeom>
          <a:noFill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ED5ED6-A871-42C7-99ED-54374A2C5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2509" y="3359338"/>
            <a:ext cx="2843711" cy="286207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351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4F685C-3DC9-BB3C-57B2-DA9F30E0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Danke für ihre Aufmerksamkeit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B32FB7-B18F-AA02-B155-5F9DF01DD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7499568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Breitbild</PresentationFormat>
  <Paragraphs>27</Paragraphs>
  <Slides>5</Slides>
  <Notes>2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Arial</vt:lpstr>
      <vt:lpstr>Calisto MT</vt:lpstr>
      <vt:lpstr>Univers Condensed</vt:lpstr>
      <vt:lpstr>ChronicleVTI</vt:lpstr>
      <vt:lpstr>3D Scanner zur Artikeldatenerfassung</vt:lpstr>
      <vt:lpstr>Grundkonzept</vt:lpstr>
      <vt:lpstr>vereinfachter Aufbau</vt:lpstr>
      <vt:lpstr>Ähnliches Konzept</vt:lpstr>
      <vt:lpstr>Danke für ihre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SCHIECHTL Alexander, SchülerIn</dc:creator>
  <cp:lastModifiedBy>SCHIECHTL Alexander, SchülerIn</cp:lastModifiedBy>
  <cp:revision>11</cp:revision>
  <dcterms:created xsi:type="dcterms:W3CDTF">2025-06-25T18:01:43Z</dcterms:created>
  <dcterms:modified xsi:type="dcterms:W3CDTF">2025-06-26T09:25:01Z</dcterms:modified>
</cp:coreProperties>
</file>